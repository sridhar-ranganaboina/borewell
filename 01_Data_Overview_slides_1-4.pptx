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7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5BE00"/>
    <a:srgbClr val="FFFFF7"/>
    <a:srgbClr val="EEEEE7"/>
    <a:srgbClr val="008000"/>
    <a:srgbClr val="C04F15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9B39-48D6-E4EF-CE56-B0AB98F9B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D5962-E0AC-1805-B626-080F3CF5B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D755B-ADF7-584B-2000-D70CE037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47124-9E90-E904-6AA6-2754E0DC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8603-02B8-2A45-1E91-C0450635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8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A840-7746-9CCC-C637-CF441B1C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155C-14DA-1E77-11C1-DFEF5E6F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AFF26-7E05-5A87-B51D-AD1CFB7C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47727-87FE-2DAD-E41A-222E2A99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57631-9029-1600-499C-E93B8A9E3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0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71F99-9C03-444A-C484-E92804074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6BADD-35FE-4A8B-B2D6-BAC8BE13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5A3D1-D556-52C9-A282-1657820A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8C4FB-8D57-72FB-BB0B-F7D89B87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B0605-F59D-7E3C-EF6B-71134726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EC3E-5D61-0378-D057-4094E504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2C98-9730-5926-22CF-7026CEBF1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1450A-FC5C-75ED-DD6A-9EA2DDEB7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48E7F-6606-6357-9E92-5C9610E3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C684E-9395-AA34-B05B-508615D0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BED2B-E10D-0D33-C33A-CC4A809C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BAAA-107E-2AFD-4C2F-91E4D9536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BA8CF-CD9E-AF2E-3E93-1C504B2FC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178C0-97E0-5D2C-249F-15A764D4C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1C075-1883-6354-0EED-4F8A0CBE3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E11C0-249D-69D4-F603-8039B689FB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646F7-114D-15E3-B09B-737FF0BC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59970-45A7-442E-EBC6-194B1B14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0B76B-B155-C7DD-6FC4-3FBE919C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98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3311-22AB-AEBA-1F1C-584BF7EB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7DF8B-4DB1-31E8-9851-4B41623E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B0985-6956-88EC-61FD-9362E26C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AE73F-0248-954A-C9CE-1ACCCFA4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0EB77-D354-9F23-7D33-FF6DB4FC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E2336-B649-6E8E-4032-6B5DEBE8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2A6E8-D52C-3A50-69DA-F07E73B2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7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E304-2F90-36D9-1ED7-76AB0B22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4CC59-5C0D-7750-F914-3652206B8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1BA39-1830-D657-A3EC-F74DFA40E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A4F97-04AC-DE62-A6ED-EC711A86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E439C-C1D0-9D90-7B9E-BB566F89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2D1BC-0C1B-9C27-6F35-FE45ABC7A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5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841C-B990-950F-4E77-6BEC6A129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74837-2728-0D37-37E9-AE280DA8D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FD5B3-E080-D0E7-2EB5-87D697D9A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44070-013A-0648-5B8A-EA78B0B4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E6954-5C7A-DA83-1DA2-B4DF2122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5DE83-AA43-3209-C2A9-A2A4EC56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1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2B2D-57C4-C3A3-B688-11543B31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6CE3D-7A45-6887-7AE0-65DAA2329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2C074-6764-A27D-CD64-A235447F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11201-0D31-D7C8-9BDF-9A50DA685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C0D4D-EAA5-26DF-B7FB-588D75B8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3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F53BB-91FF-FF83-1981-0E7A02D23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F6DFE-E674-CC28-B7B2-515FF799C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F651B-BF79-F975-BAD0-D4305BAD3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D5A1C-5F90-AD4E-9999-010A0028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308C6-4820-A42C-B2A1-8EDA470B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247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BDB73-1FFF-9FB5-D716-A171EECB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ABABE-1EAF-2B51-BD84-F0A03951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AB532-6FF6-4107-B098-AB333CE63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5FF1B-1813-494D-B534-36EE87FCD9F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6F14-5D8D-2C5A-45E8-E2EACFADE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BCC28-5004-FAC1-D4E6-DD0516043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E2851-12D1-4B71-9223-B8295A1BB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9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D8D4-955D-702B-4244-EE266D4E26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Wellbore Geology Prediction</a:t>
            </a:r>
          </a:p>
        </p:txBody>
      </p:sp>
    </p:spTree>
    <p:extLst>
      <p:ext uri="{BB962C8B-B14F-4D97-AF65-F5344CB8AC3E}">
        <p14:creationId xmlns:p14="http://schemas.microsoft.com/office/powerpoint/2010/main" val="58510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8E9AC-DC37-F6A9-84D2-8A838C7BF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363" y="178835"/>
            <a:ext cx="3395273" cy="54111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Available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B7295-2D5C-227E-3ED5-2793148D7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561" y="825793"/>
            <a:ext cx="8730750" cy="4888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ABE5BB-A651-A122-E958-D3873B065204}"/>
              </a:ext>
            </a:extLst>
          </p:cNvPr>
          <p:cNvSpPr txBox="1"/>
          <p:nvPr/>
        </p:nvSpPr>
        <p:spPr>
          <a:xfrm rot="5400000">
            <a:off x="9170482" y="3401366"/>
            <a:ext cx="214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Zoomed in TVT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D89CC-F6C2-0A15-CFA3-52F566C6CD29}"/>
              </a:ext>
            </a:extLst>
          </p:cNvPr>
          <p:cNvSpPr txBox="1"/>
          <p:nvPr/>
        </p:nvSpPr>
        <p:spPr>
          <a:xfrm>
            <a:off x="2397177" y="5925661"/>
            <a:ext cx="59748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well has two CSV files:</a:t>
            </a:r>
          </a:p>
          <a:p>
            <a:r>
              <a:rPr lang="en-US" sz="1400" dirty="0"/>
              <a:t>Well1XXXX__horizontal_well.csv – horizontal well data</a:t>
            </a:r>
          </a:p>
          <a:p>
            <a:r>
              <a:rPr lang="en-US" sz="1400" dirty="0"/>
              <a:t>Well1XXXX__typewell__Typewell2XXXX.csv – </a:t>
            </a:r>
            <a:r>
              <a:rPr lang="en-US" sz="1400" dirty="0" err="1"/>
              <a:t>Typewell</a:t>
            </a:r>
            <a:r>
              <a:rPr lang="en-US" sz="1400" dirty="0"/>
              <a:t> (vertical well data)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8757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F37A-3527-CB81-10F6-132FD4D4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693" y="-83723"/>
            <a:ext cx="5165093" cy="483306"/>
          </a:xfrm>
        </p:spPr>
        <p:txBody>
          <a:bodyPr>
            <a:normAutofit/>
          </a:bodyPr>
          <a:lstStyle/>
          <a:p>
            <a:r>
              <a:rPr lang="en-US" sz="2800" dirty="0"/>
              <a:t>Horizontal Well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B137C-0002-980A-0F13-0047D30D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812"/>
          <a:stretch>
            <a:fillRect/>
          </a:stretch>
        </p:blipFill>
        <p:spPr>
          <a:xfrm>
            <a:off x="1904666" y="702545"/>
            <a:ext cx="7153609" cy="32574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E2C6F8-72EB-FCCC-9D93-9FBFE3B13E4B}"/>
              </a:ext>
            </a:extLst>
          </p:cNvPr>
          <p:cNvSpPr/>
          <p:nvPr/>
        </p:nvSpPr>
        <p:spPr>
          <a:xfrm>
            <a:off x="1150658" y="4176985"/>
            <a:ext cx="679731" cy="219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8CDF8-5BF1-153E-7A3A-BA63694970A4}"/>
              </a:ext>
            </a:extLst>
          </p:cNvPr>
          <p:cNvSpPr txBox="1"/>
          <p:nvPr/>
        </p:nvSpPr>
        <p:spPr>
          <a:xfrm>
            <a:off x="2006464" y="4102235"/>
            <a:ext cx="9948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TVT (geology of the wellbore) must be predicted.</a:t>
            </a:r>
            <a:r>
              <a:rPr lang="ru-RU" dirty="0"/>
              <a:t> </a:t>
            </a:r>
            <a:r>
              <a:rPr lang="en-US" dirty="0"/>
              <a:t>This value is provided only for the training 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7D62BD-4ECF-27D0-AB42-E7543CE3E051}"/>
              </a:ext>
            </a:extLst>
          </p:cNvPr>
          <p:cNvSpPr/>
          <p:nvPr/>
        </p:nvSpPr>
        <p:spPr>
          <a:xfrm>
            <a:off x="1150658" y="4579397"/>
            <a:ext cx="679731" cy="21983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C91A6-D859-3B73-F5F6-4FC0DA2041C3}"/>
              </a:ext>
            </a:extLst>
          </p:cNvPr>
          <p:cNvSpPr txBox="1"/>
          <p:nvPr/>
        </p:nvSpPr>
        <p:spPr>
          <a:xfrm>
            <a:off x="2006464" y="4504647"/>
            <a:ext cx="851866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Top depth of each geological formation (provided only in the training dataset)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ECB173-26CE-0CC2-BB45-05F1386A0535}"/>
              </a:ext>
            </a:extLst>
          </p:cNvPr>
          <p:cNvSpPr/>
          <p:nvPr/>
        </p:nvSpPr>
        <p:spPr>
          <a:xfrm>
            <a:off x="1150658" y="4981809"/>
            <a:ext cx="679731" cy="219833"/>
          </a:xfrm>
          <a:prstGeom prst="rect">
            <a:avLst/>
          </a:prstGeom>
          <a:solidFill>
            <a:srgbClr val="C04F15">
              <a:alpha val="4902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DF2CD6-0779-0647-7AD2-36A272CB93D0}"/>
              </a:ext>
            </a:extLst>
          </p:cNvPr>
          <p:cNvSpPr txBox="1"/>
          <p:nvPr/>
        </p:nvSpPr>
        <p:spPr>
          <a:xfrm>
            <a:off x="2006465" y="4908980"/>
            <a:ext cx="408785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Provided for training and for 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443FB-F206-54DD-6E9A-A9321C770206}"/>
              </a:ext>
            </a:extLst>
          </p:cNvPr>
          <p:cNvSpPr txBox="1"/>
          <p:nvPr/>
        </p:nvSpPr>
        <p:spPr>
          <a:xfrm>
            <a:off x="1490523" y="5372431"/>
            <a:ext cx="91375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Units: feet</a:t>
            </a:r>
            <a:endParaRPr lang="ru-RU" sz="1400" dirty="0"/>
          </a:p>
          <a:p>
            <a:r>
              <a:rPr lang="en-US" sz="1400" dirty="0"/>
              <a:t>MD – measured depth (well length)</a:t>
            </a:r>
            <a:br>
              <a:rPr lang="ru-RU" sz="1400" dirty="0"/>
            </a:br>
            <a:r>
              <a:rPr lang="en-US" sz="1400" dirty="0"/>
              <a:t>XYZ – coordinates of each point of the well</a:t>
            </a:r>
            <a:endParaRPr lang="ru-RU" sz="1400" dirty="0"/>
          </a:p>
          <a:p>
            <a:r>
              <a:rPr lang="en-US" sz="1400" dirty="0"/>
              <a:t>GR – GR – gamma ray values measured at each point of the horizontal well (some values may be </a:t>
            </a:r>
            <a:r>
              <a:rPr lang="en-US" sz="1400" dirty="0" err="1"/>
              <a:t>NaN</a:t>
            </a:r>
            <a:r>
              <a:rPr lang="en-US" sz="1400" dirty="0"/>
              <a:t>)</a:t>
            </a:r>
            <a:endParaRPr lang="ru-RU" sz="1400" dirty="0"/>
          </a:p>
          <a:p>
            <a:r>
              <a:rPr lang="en-US" sz="1400" dirty="0"/>
              <a:t>TVT – geology values (see next slide)</a:t>
            </a:r>
            <a:endParaRPr lang="ru-RU" sz="1400" dirty="0"/>
          </a:p>
          <a:p>
            <a:r>
              <a:rPr lang="en-US" sz="1400" dirty="0" err="1"/>
              <a:t>TVT_input</a:t>
            </a:r>
            <a:r>
              <a:rPr lang="en-US" sz="1400" dirty="0"/>
              <a:t> – same geology values available until the Prediction Start (PS) point</a:t>
            </a:r>
            <a:endParaRPr lang="ru-RU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6BC30C-EF7D-426E-E85C-2D85536BFA4A}"/>
              </a:ext>
            </a:extLst>
          </p:cNvPr>
          <p:cNvSpPr/>
          <p:nvPr/>
        </p:nvSpPr>
        <p:spPr>
          <a:xfrm>
            <a:off x="4557477" y="999181"/>
            <a:ext cx="2890880" cy="296085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3FA55-2F43-E84D-E5C4-856701AE995D}"/>
              </a:ext>
            </a:extLst>
          </p:cNvPr>
          <p:cNvSpPr/>
          <p:nvPr/>
        </p:nvSpPr>
        <p:spPr>
          <a:xfrm>
            <a:off x="2211475" y="999181"/>
            <a:ext cx="2346002" cy="2993931"/>
          </a:xfrm>
          <a:prstGeom prst="rect">
            <a:avLst/>
          </a:prstGeom>
          <a:solidFill>
            <a:srgbClr val="C04F15">
              <a:alpha val="4902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B5367E-0959-ACF5-6540-0666780CD64B}"/>
              </a:ext>
            </a:extLst>
          </p:cNvPr>
          <p:cNvSpPr/>
          <p:nvPr/>
        </p:nvSpPr>
        <p:spPr>
          <a:xfrm>
            <a:off x="7941332" y="999181"/>
            <a:ext cx="650218" cy="2993931"/>
          </a:xfrm>
          <a:prstGeom prst="rect">
            <a:avLst/>
          </a:prstGeom>
          <a:solidFill>
            <a:srgbClr val="C04F15">
              <a:alpha val="4902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D5CB3-F0A6-19EE-748C-5104F23CB159}"/>
              </a:ext>
            </a:extLst>
          </p:cNvPr>
          <p:cNvSpPr txBox="1"/>
          <p:nvPr/>
        </p:nvSpPr>
        <p:spPr>
          <a:xfrm>
            <a:off x="3810000" y="278652"/>
            <a:ext cx="3806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Well10001__horizontal_well.csv 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88086E-165F-438D-A04D-CF721D704EFA}"/>
              </a:ext>
            </a:extLst>
          </p:cNvPr>
          <p:cNvSpPr/>
          <p:nvPr/>
        </p:nvSpPr>
        <p:spPr>
          <a:xfrm>
            <a:off x="7448357" y="3200916"/>
            <a:ext cx="476443" cy="7921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1202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EF477E1-048A-D9C9-0623-B6016597726F}"/>
              </a:ext>
            </a:extLst>
          </p:cNvPr>
          <p:cNvSpPr txBox="1">
            <a:spLocks/>
          </p:cNvSpPr>
          <p:nvPr/>
        </p:nvSpPr>
        <p:spPr>
          <a:xfrm>
            <a:off x="4345731" y="0"/>
            <a:ext cx="3872012" cy="4833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Vertical (</a:t>
            </a:r>
            <a:r>
              <a:rPr lang="en-US" sz="2800" dirty="0" err="1"/>
              <a:t>Typewell</a:t>
            </a:r>
            <a:r>
              <a:rPr lang="en-US" sz="2800" dirty="0"/>
              <a:t>) Well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E5B32-C4C3-7849-DA8E-1031DCB216CC}"/>
              </a:ext>
            </a:extLst>
          </p:cNvPr>
          <p:cNvSpPr txBox="1"/>
          <p:nvPr/>
        </p:nvSpPr>
        <p:spPr>
          <a:xfrm>
            <a:off x="3895724" y="483306"/>
            <a:ext cx="4772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Well10001__typewell__Typewell20001.csv file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E7CBFF-76E3-07AF-ED83-72D8C934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6" y="942975"/>
            <a:ext cx="1585216" cy="5295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C0F461-C195-5645-D90B-84055BF1D2C5}"/>
              </a:ext>
            </a:extLst>
          </p:cNvPr>
          <p:cNvSpPr txBox="1"/>
          <p:nvPr/>
        </p:nvSpPr>
        <p:spPr>
          <a:xfrm>
            <a:off x="2441117" y="3217876"/>
            <a:ext cx="60513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horizontal well is assigned one </a:t>
            </a:r>
            <a:r>
              <a:rPr lang="en-US" sz="1400" dirty="0" err="1"/>
              <a:t>typewell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Units: feet</a:t>
            </a:r>
          </a:p>
          <a:p>
            <a:r>
              <a:rPr lang="en-US" sz="1400" dirty="0"/>
              <a:t>TVT – true vertical thickness (depth in the vertical well)</a:t>
            </a:r>
          </a:p>
          <a:p>
            <a:r>
              <a:rPr lang="en-US" sz="1400" dirty="0"/>
              <a:t>GR – Gamma Ray Values measured at each point of the vertical well</a:t>
            </a:r>
            <a:endParaRPr lang="ru-RU" sz="1400" dirty="0"/>
          </a:p>
          <a:p>
            <a:r>
              <a:rPr lang="en-US" sz="1400" dirty="0"/>
              <a:t>Geology – name of geological layer</a:t>
            </a:r>
            <a:endParaRPr lang="ru-RU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F07C02-EA6B-CCC1-5BC9-13CAB2F0F275}"/>
              </a:ext>
            </a:extLst>
          </p:cNvPr>
          <p:cNvCxnSpPr/>
          <p:nvPr/>
        </p:nvCxnSpPr>
        <p:spPr>
          <a:xfrm flipH="1" flipV="1">
            <a:off x="7101840" y="852638"/>
            <a:ext cx="891540" cy="778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0D3A9B-BE90-46D3-5390-BDF2BFEC8960}"/>
              </a:ext>
            </a:extLst>
          </p:cNvPr>
          <p:cNvSpPr txBox="1"/>
          <p:nvPr/>
        </p:nvSpPr>
        <p:spPr>
          <a:xfrm>
            <a:off x="7179204" y="1630680"/>
            <a:ext cx="29770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Typewell</a:t>
            </a:r>
            <a:r>
              <a:rPr lang="en-US" sz="1400" dirty="0"/>
              <a:t> assigned to Horizontal well</a:t>
            </a:r>
          </a:p>
        </p:txBody>
      </p:sp>
    </p:spTree>
    <p:extLst>
      <p:ext uri="{BB962C8B-B14F-4D97-AF65-F5344CB8AC3E}">
        <p14:creationId xmlns:p14="http://schemas.microsoft.com/office/powerpoint/2010/main" val="296660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601</Words>
  <Application>Microsoft Office PowerPoint</Application>
  <PresentationFormat>Widescreen</PresentationFormat>
  <Paragraphs>69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Wellbore Geology Prediction</vt:lpstr>
      <vt:lpstr>Data Available</vt:lpstr>
      <vt:lpstr>Horizontal Well Data</vt:lpstr>
      <vt:lpstr>PowerPoint Presentation</vt:lpstr>
      <vt:lpstr>Goal: get TVT values from GR data</vt:lpstr>
      <vt:lpstr>Goal: get TVT values from GR data</vt:lpstr>
      <vt:lpstr>Goal: get TVT values from GR data</vt:lpstr>
      <vt:lpstr>Understanding TVT from Gamma Ray data</vt:lpstr>
      <vt:lpstr>Gamma ray in the horizontal well has better resolution</vt:lpstr>
      <vt:lpstr>Map view of all training and validation wells</vt:lpstr>
      <vt:lpstr>3D view of all training and validation wells</vt:lpstr>
      <vt:lpstr>The geology of an offset well can help predict the geology of the current well</vt:lpstr>
      <vt:lpstr>The geology of an offset well can help predict the geology of the current well</vt:lpstr>
      <vt:lpstr>How to evaluate Prediction quality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Kuvaev</dc:creator>
  <cp:lastModifiedBy>Igor Kuvaev</cp:lastModifiedBy>
  <cp:revision>17</cp:revision>
  <dcterms:created xsi:type="dcterms:W3CDTF">2025-12-14T23:11:52Z</dcterms:created>
  <dcterms:modified xsi:type="dcterms:W3CDTF">2026-05-01T04:28:55Z</dcterms:modified>
</cp:coreProperties>
</file>